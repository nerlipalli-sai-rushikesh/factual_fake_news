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 Regression</c:v>
                  </c:pt>
                  <c:pt idx="1">
                    <c:v>Passive Aggressive</c:v>
                  </c:pt>
                  <c:pt idx="2">
                    <c:v>Naive Bayes</c:v>
                  </c:pt>
                  <c:pt idx="3">
                    <c:v>Decision Tree</c:v>
                  </c:pt>
                  <c:pt idx="4">
                    <c:v>Random Forest</c:v>
                  </c:pt>
                  <c:pt idx="5">
                    <c:v>Linear SVM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98.5</c:v>
                </c:pt>
                <c:pt idx="1">
                  <c:v>99</c:v>
                </c:pt>
                <c:pt idx="2">
                  <c:v>93</c:v>
                </c:pt>
                <c:pt idx="3">
                  <c:v>99.5</c:v>
                </c:pt>
                <c:pt idx="4">
                  <c:v>98.8</c:v>
                </c:pt>
                <c:pt idx="5">
                  <c:v>99.2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%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 Regression</c:v>
                  </c:pt>
                  <c:pt idx="1">
                    <c:v>Passive Aggressive</c:v>
                  </c:pt>
                  <c:pt idx="2">
                    <c:v>Naive Bayes</c:v>
                  </c:pt>
                  <c:pt idx="3">
                    <c:v>Decision Tree</c:v>
                  </c:pt>
                  <c:pt idx="4">
                    <c:v>Random Forest</c:v>
                  </c:pt>
                  <c:pt idx="5">
                    <c:v>Linear SVM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98.5</c:v>
                </c:pt>
                <c:pt idx="1">
                  <c:v>99</c:v>
                </c:pt>
                <c:pt idx="2">
                  <c:v>93</c:v>
                </c:pt>
                <c:pt idx="3">
                  <c:v>99.5</c:v>
                </c:pt>
                <c:pt idx="4">
                  <c:v>98.8</c:v>
                </c:pt>
                <c:pt idx="5">
                  <c:v>99.2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91440"/>
            <a:ext cx="1828800" cy="18288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📰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011680" y="73152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vs Factual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Detector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11680" y="2743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NLP &amp; Machine Learning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3383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 ·  TF-IDF  ·  6 Models  ·  Streamlit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  |  Machine Learning  |  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📣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faster than truth on social media and digital news platforms, causing real-world harm.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NLP pipeline that classifies any news article as FAKE or FACTUAL with ~99% accuracy in real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people cannot reliably distinguish fake news from real news — Stanford Internet Observatory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27432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News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True.csv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Articles: ~21,000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Reuters News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27432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Fake.csv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762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Articles: ~23,000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Various Sources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Encoding:  Factual = 1  ·  Fake = 0  |  Combined &amp; Shuffled: ~44,000 articles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End-to-End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097280" cy="137160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Labeling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109728" cy="16459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1188720"/>
            <a:ext cx="1097280" cy="1371600"/>
          </a:xfrm>
          <a:prstGeom prst="rect">
            <a:avLst/>
          </a:prstGeom>
          <a:solidFill>
            <a:srgbClr val="1A6B8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81328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81328" y="1645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1783080"/>
            <a:ext cx="109728" cy="16459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1" name="Shape 9"/>
          <p:cNvSpPr/>
          <p:nvPr/>
        </p:nvSpPr>
        <p:spPr>
          <a:xfrm>
            <a:off x="2688336" y="1188720"/>
            <a:ext cx="1097280" cy="1371600"/>
          </a:xfrm>
          <a:prstGeom prst="rect">
            <a:avLst/>
          </a:prstGeom>
          <a:solidFill>
            <a:srgbClr val="1ABC9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88336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88336" y="1645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85616" y="1783080"/>
            <a:ext cx="109728" cy="16459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3895344" y="1188720"/>
            <a:ext cx="1097280" cy="1371600"/>
          </a:xfrm>
          <a:prstGeom prst="rect">
            <a:avLst/>
          </a:prstGeom>
          <a:solidFill>
            <a:srgbClr val="2299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95344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95344" y="1645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92624" y="1783080"/>
            <a:ext cx="109728" cy="16459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9" name="Shape 17"/>
          <p:cNvSpPr/>
          <p:nvPr/>
        </p:nvSpPr>
        <p:spPr>
          <a:xfrm>
            <a:off x="5102352" y="1188720"/>
            <a:ext cx="1097280" cy="1371600"/>
          </a:xfrm>
          <a:prstGeom prst="rect">
            <a:avLst/>
          </a:prstGeom>
          <a:solidFill>
            <a:srgbClr val="D4AC0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02352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02352" y="1645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1783080"/>
            <a:ext cx="109728" cy="16459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188720"/>
            <a:ext cx="1097280" cy="1371600"/>
          </a:xfrm>
          <a:prstGeom prst="rect">
            <a:avLst/>
          </a:prstGeom>
          <a:solidFill>
            <a:srgbClr val="CA6F1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1645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1783080"/>
            <a:ext cx="109728" cy="16459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516368" y="1188720"/>
            <a:ext cx="1097280" cy="13716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16368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516368" y="1645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80360"/>
            <a:ext cx="1600200" cy="1737360"/>
          </a:xfrm>
          <a:prstGeom prst="rect">
            <a:avLst/>
          </a:prstGeom>
          <a:solidFill>
            <a:srgbClr val="1629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9443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74320" y="345643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Tokenizer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29968" y="2880360"/>
            <a:ext cx="1600200" cy="1737360"/>
          </a:xfrm>
          <a:prstGeom prst="rect">
            <a:avLst/>
          </a:prstGeom>
          <a:solidFill>
            <a:srgbClr val="1629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9968" y="29443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029968" y="345643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POS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85616" y="2880360"/>
            <a:ext cx="1600200" cy="1737360"/>
          </a:xfrm>
          <a:prstGeom prst="rect">
            <a:avLst/>
          </a:prstGeom>
          <a:solidFill>
            <a:srgbClr val="1629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85616" y="29443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785616" y="345643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41264" y="2880360"/>
            <a:ext cx="1600200" cy="1737360"/>
          </a:xfrm>
          <a:prstGeom prst="rect">
            <a:avLst/>
          </a:prstGeom>
          <a:solidFill>
            <a:srgbClr val="1629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29443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541264" y="345643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ML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Selection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96912" y="2880360"/>
            <a:ext cx="1600200" cy="1737360"/>
          </a:xfrm>
          <a:prstGeom prst="rect">
            <a:avLst/>
          </a:prstGeom>
          <a:solidFill>
            <a:srgbClr val="1629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96912" y="29443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296912" y="345643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Exploratory Data Analysis (EDA)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Label Distribution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Near-balanced dataset: ~21K factual vs ~23K fake articles, ensuring unbiased model training.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Text Length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articles are significantly longer on average than fake ones — an exploitable signal.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POS Tagging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POS analysis reveals overuse of NOUN and PROPN in fake news clickbait headlines.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NER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entities in fake news: Trump, Obama, US (GPE). Factual news focuses on global institutions.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Text Preprocessing 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69848"/>
            <a:ext cx="420624" cy="42062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69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Columns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4241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title + text → content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54864" cy="13716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618488"/>
            <a:ext cx="420624" cy="42062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18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5910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59105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text to lowercase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39112"/>
            <a:ext cx="54864" cy="13716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167128"/>
            <a:ext cx="420624" cy="42062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167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1396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13969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punctuation &amp; extra whitespace (regex)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54864" cy="13716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715768"/>
            <a:ext cx="420624" cy="42062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715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688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268833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word_tokenize → list of tokens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136392"/>
            <a:ext cx="54864" cy="13716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264408"/>
            <a:ext cx="420624" cy="42062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264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2369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 Words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323697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NLTK English stop words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685032"/>
            <a:ext cx="54864" cy="13716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813048"/>
            <a:ext cx="420624" cy="42062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813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37856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0" y="378561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WordNetLemmatizer → root word forms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233672"/>
            <a:ext cx="54864" cy="13716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4361688"/>
            <a:ext cx="420624" cy="42062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334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Tokens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00400" y="433425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→ clean string for TF-IDF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Model Training &amp; Results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943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005840"/>
            <a:ext cx="2560320" cy="38404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4652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652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46520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46520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99.5%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Streamlit Web Application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303520" cy="3931920"/>
          </a:xfrm>
          <a:prstGeom prst="rect">
            <a:avLst/>
          </a:prstGeom>
          <a:solidFill>
            <a:srgbClr val="16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Fake vs Factual News Detector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029200" cy="411480"/>
          </a:xfrm>
          <a:prstGeom prst="rect">
            <a:avLst/>
          </a:prstGeom>
          <a:solidFill>
            <a:srgbClr val="1A3A55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Headline:  Breaking — Scientists discover...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5029200" cy="1188720"/>
          </a:xfrm>
          <a:prstGeom prst="rect">
            <a:avLst/>
          </a:prstGeom>
          <a:solidFill>
            <a:srgbClr val="1A3A55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Article Text:  Researchers at MIT announced today...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5029200" cy="4572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Analyze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502920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977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FACTUAL NEWS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1097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prediction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Runs 100% locally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Best model auto-loaded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154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Saved with joblib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Launch with: streamlit run app.py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🐼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43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240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143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1783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240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Stop Words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143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58000" y="1783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240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&amp; 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3063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148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160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TF-IDF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97180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68880" y="3063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6032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4160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97180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17720" y="3063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70916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60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97180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66560" y="3063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5800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4160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Conclusion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Achieved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NLP pipeline from raw CSV to live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~99% accuracy across multiple ML models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Deep EDA with POS tagging &amp; NER insights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Streamlit UI for real-time predictions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reproducible &amp; GitHub-ready codebase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Improvements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BERT / RoBERTa transformer 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Multi-language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Browser extension for live fact-checking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063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Confidence score display in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news API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43159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Star this project on GitHub  |  pip install -r requirements.txt  |  streamlit run app.py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vs Factual News Detector</dc:title>
  <dc:subject>PptxGenJS Presentation</dc:subject>
  <dc:creator>NLP Project</dc:creator>
  <cp:lastModifiedBy>NLP Project</cp:lastModifiedBy>
  <cp:revision>1</cp:revision>
  <dcterms:created xsi:type="dcterms:W3CDTF">2026-05-29T03:56:57Z</dcterms:created>
  <dcterms:modified xsi:type="dcterms:W3CDTF">2026-05-29T03:56:57Z</dcterms:modified>
</cp:coreProperties>
</file>